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new joinee. This session covers what Fulfillment Console is, who uses it, key business rules, and how we test it from a QA perspective. Encourage questions throughout; we’ll leave 10 minutes at the end for Q&amp;A. Share that slides and automation repo paths will be sent after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expectations: this is QA-focused, not deep backend architecture. Goal is that by end of week 1 they can log in, apply filters confidently, and know where to find test cases and automation. Mention Day-1 checklist will be shared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in plain language: when Paramount delivers an episode or package to Netflix, Comcast, Amazon, etc., a work order runs through a pipeline. Fulfillment Console is where ops teams see and act on those orders. It is not a content editing tool or a partner-facing portal. Data comes from backend systems (GraphQL/AppSync, demand systems, VMS). QA’s job is to ensure the UI accurately reflects that data and that filters/actions behave correctly.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testers sometimes assume they can “create orders” freely in DEV — clarify what is read-only vs actionable. Destructive actions (Restart processing, Start delivery, bulk Assign) need care and are usually restricted by role and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PFO and VidOps communicate daily using identifiers like Downstream System ID to confirm delivered packages. VidOps QC’s files before/at delivery to partners. QA must test with the correct role — a read-only user should not see enabled Assign/Restart buttons. Mention security groups: read-only, user, super-user, admin (msc-operations-console-fulfillment-*).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Orders tab = order-level grid. Line items tab = finer granularity (same filters, different columns). Many defects are reported at the wrong level — teach them to note Orders vs Line items tab in every bug. Example: “Survivor S3 E306” might appear in both views differently.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Don’t expect memorization today — this slide is a reference. Emphasize Downstream System ID: generated after work order completion; PFO and VidOps use it to identify delivered packages. Currently in Data in/out modal; new design adds it to line item table and Details panel (see Figma). QA must verify same ID everywhere when feature 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Figma link if possible: Fulfillment 2025 prototype. Walk through the three design changes. QA test plan for this feature: ID only when order complete; consistent across table, Details, modal; name matches ID; export includes new field. This is a good example of translating design + business need into test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common new-tester mistake: “I only see 222 Survivor titles” — because date filter is single day. Always document active date range in test evidence and bugs. Saved filters can include date presets (Today, Yesterday, Last 7 Days, custom). Verify saved filter restores date + selections.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Statuses drive which action buttons are valid. Failed orders often have Error message filter values — good for troubleshooting tests. When testing Restart processing or Start delivery, confirm preconditions with a senior QA or ops contact; don’t run on PROD without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mentally or live: select Order Status + Partner → grid narrows. Clear removes chips. Partner and Series title use CDK virtual scroll — options load as you scroll. Duplicate-option defect: searching exact partner/title string must return exactly 1 row — we have a whole test suite for this (DFOC).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 negative cases: nothing selected, read-only user, wrong status. Export should respect current filters and date range. Save filter / Save changes / Clear near top of filter panel — Clear disabled when no filters active.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 starts next section if doing hands-on. Point out global search placeholder: “Search by title, ID or provider.” Details panel opens from row — show order/line item fields. Warning/notification badge on profile is common in DEV.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Orders is default after login — no need to click tab if already there. Line items tab marker in UI: “Line item start date” column or “Show hidden line items.” Cross-tab test: apply filter on Orders, switch to Line items — filters may persist; verify expected behavior (LF_CrossTabSwitchValidationTest in automation).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21 filters on Orders and Line items tabs. Three types: checkbox list (most), large list (Partner, Series title, Episode number), range (Season number, Episode number). Large lists need scroll testing and duplicate checks. Partner ~2,425 PROD; Series title ~25k DEV.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Automation covers TC_002–TC_005 (manage columns, create view, default selection). QA checks: new view appears in dropdown, toast “Table view created”, columns persist after refresh. Relevant when new fields added (e.g., Downstream System ID column).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 = feature testing, large data. UAT = pre-prod sign-off. PROD = smoke/post-deploy only. PR preview URL exists for specific builds. Always state environment in Jira defects. Credentials via team vault — don’t share passwords in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Regression is filter-heavy because ops lives in filters daily. DFOC is a data-quality gate we ran for Partner PROD before deploy — found exact duplicates, case variants, search-only duplicates. New features get manual exploratory + targeted automation if 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Naming: LF_O = Orders tab, LF_LI = Line items. Example: LF_O_TC201_Partner_SearchTest. Table sync (TC6xx) catches “filter says X but grid shows Y” — high business impact. Partner skips Select All and Table sync in some configs due to list size — know exceptions.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 Partner sign-off example: 2,437 raw rows, 2,418 unique, 5 exact duplicate groups, 22 case-insensitive pairs — NO sign-off until fixed. Case variants (VUDU/Vudu) may be accepted as separate business decision; exact duplicates are always bugs. MPD Disney Spain FSP appeared once in full scroll but twice on search — search-only duplicate, hardest to catch without search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 1–2 real examples from your experience. Teach defect template: Env, URL, tab, date range, filters applied, steps, expected vs actual, screenshot, order/line item ID if available. Attach filter badge screenshot (e.g., Partner 0/2450).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Execution via Synergy (local localhost:39445/synergy or Synergy public lab). Local MaxTestTime = 60 min. Large collections (Partner, Series title) need long sessions. TestRail project ID 223 if posting results. Allure reports under allure-results/.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writing this in Jira/TestRail. Emphasize exact string for duplicate validation vs partial search for exploratory testing. For Series title with 25k options, use collection + duplicate report then manually verify flagged titles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Assign a buddy for first two weeks. Day 1 hands-on checklist: (1) Login DEV (2) Note date range (3) Expand Order Status (4) Select one status (5) Verify grid (6) Open Details (7) Switch Line items tab (8) Clear filters. Book 30-min follow-up after Day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 actual links your team uses. Confirm new joinee has: Paramount SSO, DEV access, Synergy client, Jira, TestRail, Figma view access, repo clone. Escalation: primary QA lead, ops SME for business rule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questions: “Can I restart orders in DEV?” (check with lead), “Why do counts differ DEV vs PROD?” (data volume + date), “How long does full Partner collection take?” (~45 min PROD local scroll). Thank them; schedule 1:1 within 48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use if someone asks for concrete filter values during Q&amp;A. Full list visible in DEV UI — counts change daily.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example from automation run. Files: PartnerOptions_PROD.json, PartnerNames_PROD_ExactDuplicates.txt. Use to explain why DFOC exists and why QA blocks deploy on filter data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Fulfillment Console — QA Knowledge Transfer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Fulfillment Console — QA Knowledge Transfer</a:t>
            </a:r>
          </a:p>
          <a:p>
            <a:r>
              <a:t>Operations Console | Paramount MSC</a:t>
            </a:r>
          </a:p>
          <a:p>
            <a:r>
              <a:t>[Presenter name] |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What is Fulfillment Console?</a:t>
            </a:r>
          </a:p>
          <a:p>
            <a:pPr/>
            <a:r>
              <a:t>2. Who uses it?</a:t>
            </a:r>
          </a:p>
          <a:p>
            <a:pPr/>
            <a:r>
              <a:t>3. Business concepts &amp; rules</a:t>
            </a:r>
          </a:p>
          <a:p>
            <a:pPr/>
            <a:r>
              <a:t>4. Application UI walkthrough</a:t>
            </a:r>
          </a:p>
          <a:p>
            <a:pPr/>
            <a:r>
              <a:t>5. QA test strategy &amp; environments</a:t>
            </a:r>
          </a:p>
          <a:p>
            <a:pPr/>
            <a:r>
              <a:t>6. Automation overview</a:t>
            </a:r>
          </a:p>
          <a:p>
            <a:pPr/>
            <a:r>
              <a:t>7. Common defects &amp; sign-off</a:t>
            </a:r>
          </a:p>
          <a:p>
            <a:pPr/>
            <a:r>
              <a:t>8. Hands-on next steps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What Is Fulfillment Console?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Internal Operations Console web app</a:t>
            </a:r>
          </a:p>
          <a:p>
            <a:pPr/>
            <a:r>
              <a:t>Monitors &amp; manages fulfillment work orders</a:t>
            </a:r>
          </a:p>
          <a:p>
            <a:pPr/>
            <a:r>
              <a:t>Tracks delivery of media packages to downstream partners</a:t>
            </a:r>
          </a:p>
          <a:p>
            <a:pPr/>
            <a:r>
              <a:t>Used for: search, filter, troubleshoot, assign, restart, export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What It Is NOT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 content authoring/editing</a:t>
            </a:r>
          </a:p>
          <a:p>
            <a:pPr/>
            <a:r>
              <a:t>Not a partner portal</a:t>
            </a:r>
          </a:p>
          <a:p>
            <a:pPr/>
            <a:r>
              <a:t>Not a generic dashboard</a:t>
            </a:r>
          </a:p>
          <a:p>
            <a:pPr/>
            <a:r>
              <a:t>Internal ops tool tied to real pipeline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Who Uses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Team | Primary use</a:t>
            </a:r>
          </a:p>
          <a:p>
            <a:pPr/>
            <a:r>
              <a:t>PFO | Daily order monitoring, partner delivery tracking</a:t>
            </a:r>
          </a:p>
          <a:p>
            <a:pPr/>
            <a:r>
              <a:t>VidOps | QC &amp; processing for MPX partner deliveries</a:t>
            </a:r>
          </a:p>
          <a:p>
            <a:pPr/>
            <a:r>
              <a:t>Fulfillment Ops / MSC | Search, export, error investigation</a:t>
            </a:r>
          </a:p>
          <a:p>
            <a:pPr/>
            <a:r>
              <a:t>QA | Manual + automated regression</a:t>
            </a:r>
          </a:p>
          <a:p>
            <a:pPr/>
            <a:r>
              <a:t>Admin / Super user | Elevated permissions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Core Data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Order</a:t>
            </a:r>
          </a:p>
          <a:p>
            <a:pPr/>
            <a:r>
              <a:t> └── Line Item(s)</a:t>
            </a:r>
          </a:p>
          <a:p>
            <a:pPr/>
            <a:r>
              <a:t>      └── Package / delivery metadata</a:t>
            </a:r>
          </a:p>
          <a:p>
            <a:pPr/>
            <a:r>
              <a:t>Order = top-level fulfillment job</a:t>
            </a:r>
          </a:p>
          <a:p>
            <a:pPr/>
            <a:r>
              <a:t>Line item = one deliverable within an order</a:t>
            </a:r>
          </a:p>
          <a:p>
            <a:pPr/>
            <a:r>
              <a:t>Partner = downstream recipient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Key Business Terms (Glossary)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Partner — delivery destination (~2,500 options PROD)</a:t>
            </a:r>
          </a:p>
          <a:p>
            <a:pPr/>
            <a:r>
              <a:t>Series title — content series (~25,000+ DEV)</a:t>
            </a:r>
          </a:p>
          <a:p>
            <a:pPr/>
            <a:r>
              <a:t>Environment — Production, Staging, UAT</a:t>
            </a:r>
          </a:p>
          <a:p>
            <a:pPr/>
            <a:r>
              <a:t>Job type — e.g., Fulfillment</a:t>
            </a:r>
          </a:p>
          <a:p>
            <a:pPr/>
            <a:r>
              <a:t>Downstream System ID — post-completion package identifier</a:t>
            </a:r>
          </a:p>
          <a:p>
            <a:pPr/>
            <a:r>
              <a:t>Demand system — e.g., OPC</a:t>
            </a:r>
          </a:p>
          <a:p>
            <a:pPr/>
            <a:r>
              <a:t>Delivery Protocol — e.g., ASPERA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Downstream System ID (Design Context)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Generated after work order completes</a:t>
            </a:r>
          </a:p>
          <a:p>
            <a:pPr/>
            <a:r>
              <a:t>Used by PFO ↔ VidOps for MPX partner packages</a:t>
            </a:r>
          </a:p>
          <a:p>
            <a:pPr/>
            <a:r>
              <a:t>Today: Data in/out modal</a:t>
            </a:r>
          </a:p>
          <a:p>
            <a:pPr/>
            <a:r>
              <a:t>Planned: Line item table column + Details panel (ID + name)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Business Rule: Date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Date range drives all filter counts and grid results</a:t>
            </a:r>
          </a:p>
          <a:p>
            <a:pPr/>
            <a:r>
              <a:t>Default views often use Today or recent range</a:t>
            </a:r>
          </a:p>
          <a:p>
            <a:pPr/>
            <a:r>
              <a:t>Changing dates → filter badges &amp; result counts change</a:t>
            </a:r>
          </a:p>
          <a:p>
            <a:pPr/>
            <a:r>
              <a:t>Example: Series title 0/25212 (scoped to active dates)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Business Rule: Status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Order Status (examples):</a:t>
            </a:r>
          </a:p>
          <a:p>
            <a:pPr/>
            <a:r>
              <a:t>Done: Delivered</a:t>
            </a:r>
          </a:p>
          <a:p>
            <a:pPr/>
            <a:r>
              <a:t>Done: Failed</a:t>
            </a:r>
          </a:p>
          <a:p>
            <a:pPr/>
            <a:r>
              <a:t>Line Item Status (examples):</a:t>
            </a:r>
          </a:p>
          <a:p>
            <a:pPr/>
            <a:r>
              <a:t>Delivering</a:t>
            </a:r>
          </a:p>
          <a:p>
            <a:pPr/>
            <a:r>
              <a:t>Delivery Complete</a:t>
            </a:r>
          </a:p>
          <a:p>
            <a:pPr/>
            <a:r>
              <a:t>QA rule: Grid status must match filter selection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Business Rule: Filter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Multi-filter = AND logic (all must match)</a:t>
            </a:r>
          </a:p>
          <a:p>
            <a:pPr/>
            <a:r>
              <a:t>Search inside filter = partial match (large lists)</a:t>
            </a:r>
          </a:p>
          <a:p>
            <a:pPr/>
            <a:r>
              <a:t>Select All = all visible options in scope</a:t>
            </a:r>
          </a:p>
          <a:p>
            <a:pPr/>
            <a:r>
              <a:t>Active filters = removable chips</a:t>
            </a:r>
          </a:p>
          <a:p>
            <a:pPr/>
            <a:r>
              <a:t>Clear = remove all selections</a:t>
            </a:r>
          </a:p>
          <a:p>
            <a:pPr/>
            <a:r>
              <a:t>Large lists use virtual scroll (no pagination)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Business Rule: Actions &amp; Permissions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 | Requires</a:t>
            </a:r>
          </a:p>
          <a:p>
            <a:pPr/>
            <a:r>
              <a:t>Assign to | Row selected + permission</a:t>
            </a:r>
          </a:p>
          <a:p>
            <a:pPr/>
            <a:r>
              <a:t>Restart processing | Valid state + permission</a:t>
            </a:r>
          </a:p>
          <a:p>
            <a:pPr/>
            <a:r>
              <a:t>Start delivery | Valid state + permission</a:t>
            </a:r>
          </a:p>
          <a:p>
            <a:pPr/>
            <a:r>
              <a:t>Export | Current filtered view</a:t>
            </a:r>
          </a:p>
          <a:p>
            <a:pPr/>
            <a:r>
              <a:t>Save filter | Modified filters</a:t>
            </a:r>
          </a:p>
          <a:p>
            <a:pPr/>
            <a:r>
              <a:t>QA rule: No selection → bulk actions disabled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Application UI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┌ Header: FULFILLMENT CONSOLE | AI Search | Alerts | Profile ─┐</a:t>
            </a:r>
          </a:p>
          <a:p>
            <a:pPr/>
            <a:r>
              <a:t>├ Filters panel │ Tabs: Orders | Line items | Latest submissions │</a:t>
            </a:r>
          </a:p>
          <a:p>
            <a:pPr/>
            <a:r>
              <a:t>│ Saved filters │ Date range | Global search | Active filters    │</a:t>
            </a:r>
          </a:p>
          <a:p>
            <a:pPr/>
            <a:r>
              <a:t>│ 21 accordions │ Export | Assign | Restart | Start delivery     │</a:t>
            </a:r>
          </a:p>
          <a:p>
            <a:pPr/>
            <a:r>
              <a:t>│               │ Results grid + Details panel                   │</a:t>
            </a:r>
          </a:p>
          <a:p>
            <a:pPr/>
            <a:r>
              <a:t>└───────────────┴──────────────────────────────────────────────┘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Main Tabs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 | Purpose</a:t>
            </a:r>
          </a:p>
          <a:p>
            <a:pPr/>
            <a:r>
              <a:t>Orders | Order-level view (default landing)</a:t>
            </a:r>
          </a:p>
          <a:p>
            <a:pPr/>
            <a:r>
              <a:t>Line items | Line-item-level view</a:t>
            </a:r>
          </a:p>
          <a:p>
            <a:pPr/>
            <a:r>
              <a:t>Latest submissions | Recent submission activity</a:t>
            </a:r>
          </a:p>
          <a:p>
            <a:pPr/>
            <a:r>
              <a:t>Toggle: Show hidden orders / Show hidden line items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Left Filter Panel (21 Filters)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 Item Status · Order Status · Environment · Job type · Submitted by · Partner · Series title · Flag · Assigned To · Season number · Region · Episode number · Brand · System Name · Language · Demand system · Error message · Franchise · Delivery Protocol · Activity Type · Content type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Table Views &amp;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 columns → customize grid</a:t>
            </a:r>
          </a:p>
          <a:p>
            <a:pPr/>
            <a:r>
              <a:t>Column groups: Order · Package · Line item</a:t>
            </a:r>
          </a:p>
          <a:p>
            <a:pPr/>
            <a:r>
              <a:t>Save new view → personal/team views</a:t>
            </a:r>
          </a:p>
          <a:p>
            <a:pPr/>
            <a:r>
              <a:t>Standard view vs custom views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 Environments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Env | URL</a:t>
            </a:r>
          </a:p>
          <a:p>
            <a:pPr/>
            <a:r>
              <a:t>DEV | dev-operationsconsole.paramountmsc.com/fulfillment/</a:t>
            </a:r>
          </a:p>
          <a:p>
            <a:pPr/>
            <a:r>
              <a:t>UAT | uat-operationsconsole.paramountmsc.com/fulfillment/</a:t>
            </a:r>
          </a:p>
          <a:p>
            <a:pPr/>
            <a:r>
              <a:t>PROD | operationsconsole.paramountmsc.com/fulfillment/</a:t>
            </a:r>
          </a:p>
          <a:p>
            <a:pPr/>
            <a:r>
              <a:t>QA rule: No destructive tests on PROD without approval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18. QA Test Strategy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Smoke — login, header, filter panel visible</a:t>
            </a:r>
          </a:p>
          <a:p>
            <a:pPr/>
            <a:r>
              <a:t>2. Left filter regression — per filter, per category</a:t>
            </a:r>
          </a:p>
          <a:p>
            <a:pPr/>
            <a:r>
              <a:t>3. Duplicate filter options (DFOC) — pre-deploy gate</a:t>
            </a:r>
          </a:p>
          <a:p>
            <a:pPr/>
            <a:r>
              <a:t>4. Table view — column management</a:t>
            </a:r>
          </a:p>
          <a:p>
            <a:pPr/>
            <a:r>
              <a:t>5. Story-specific — from Jira + Figma AC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19. Left Filter Test Categories (Automation)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Category | ID | Validates</a:t>
            </a:r>
          </a:p>
          <a:p>
            <a:pPr/>
            <a:r>
              <a:t>Basic | TC1xx | Expand/collapse, options visible</a:t>
            </a:r>
          </a:p>
          <a:p>
            <a:pPr/>
            <a:r>
              <a:t>Search | TC2xx | Filter search box</a:t>
            </a:r>
          </a:p>
          <a:p>
            <a:pPr/>
            <a:r>
              <a:t>Select All | TC4xx | Select/deselect, counts</a:t>
            </a:r>
          </a:p>
          <a:p>
            <a:pPr/>
            <a:r>
              <a:t>Table sync | TC6xx | Grid matches filter</a:t>
            </a:r>
          </a:p>
          <a:p>
            <a:pPr/>
            <a:r>
              <a:t>Scroll | TC8xx | Virtual scroll</a:t>
            </a:r>
          </a:p>
          <a:p>
            <a:pPr/>
            <a:r>
              <a:t>Active filters | TC10xx | Chips</a:t>
            </a:r>
          </a:p>
          <a:p>
            <a:pPr/>
            <a:r>
              <a:t>Clear | TC11xx | Clear all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20. Duplicate Filter Options (DFOC)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Ensure no duplicate labels in filter dropdowns</a:t>
            </a:r>
          </a:p>
          <a:p>
            <a:pPr/>
            <a:r>
              <a:t>Process:</a:t>
            </a:r>
          </a:p>
          <a:p>
            <a:pPr/>
            <a:r>
              <a:t>1. Collect all options (scroll/network)</a:t>
            </a:r>
          </a:p>
          <a:p>
            <a:pPr/>
            <a:r>
              <a:t>2. Excel/JSON duplicate analysis</a:t>
            </a:r>
          </a:p>
          <a:p>
            <a:pPr/>
            <a:r>
              <a:t>3. Search each exact string → expect 1 result</a:t>
            </a:r>
          </a:p>
          <a:p>
            <a:pPr/>
            <a:r>
              <a:t>Known issue types: Exact duplicate · Case variant · Search-only duplicate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21. Common Defects to Watch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Duplicate filter options</a:t>
            </a:r>
          </a:p>
          <a:p>
            <a:pPr/>
            <a:r>
              <a:t>Filter count vs scroll mismatch</a:t>
            </a:r>
          </a:p>
          <a:p>
            <a:pPr/>
            <a:r>
              <a:t>Date scope confusion</a:t>
            </a:r>
          </a:p>
          <a:p>
            <a:pPr/>
            <a:r>
              <a:t>Virtual scroll gaps / missing options</a:t>
            </a:r>
          </a:p>
          <a:p>
            <a:pPr/>
            <a:r>
              <a:t>Table sync failures</a:t>
            </a:r>
          </a:p>
          <a:p>
            <a:pPr/>
            <a:r>
              <a:t>Wrong tab (Orders vs Line items)</a:t>
            </a:r>
          </a:p>
          <a:p>
            <a:pPr/>
            <a:r>
              <a:t>Action buttons enabled when they shouldn’t be</a:t>
            </a:r>
          </a:p>
          <a:p>
            <a:pPr/>
            <a:r>
              <a:t>Performance/timeouts on large lists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22. Automation Repo Quick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Project: FF_Console_Automation</a:t>
            </a:r>
          </a:p>
          <a:p>
            <a:pPr/>
            <a:r>
              <a:t>Key paths:</a:t>
            </a:r>
          </a:p>
          <a:p>
            <a:pPr/>
            <a:r>
              <a:t>Suites: src/test/resources/*.xml</a:t>
            </a:r>
          </a:p>
          <a:p>
            <a:pPr/>
            <a:r>
              <a:t>Page objects: pageobjects/</a:t>
            </a:r>
          </a:p>
          <a:p>
            <a:pPr/>
            <a:r>
              <a:t>Filter helpers: helpers/leftfilters/</a:t>
            </a:r>
          </a:p>
          <a:p>
            <a:pPr/>
            <a:r>
              <a:t>DFOC: tests/duplicatefilteroptionscheck/</a:t>
            </a:r>
          </a:p>
          <a:p>
            <a:pPr/>
            <a:r>
              <a:t>Run example:</a:t>
            </a:r>
          </a:p>
          <a:p>
            <a:pPr/>
            <a:r>
              <a:t>mvn test -DsuiteXmlFile=src/test/resources/LeftFilterPerFilter_DevServerSmokeSuite.xml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23. Sample Test Case (Template)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TC: Partner filter — exact search returns single match</a:t>
            </a:r>
          </a:p>
          <a:p>
            <a:pPr/>
            <a:r>
              <a:t>Step | Action</a:t>
            </a:r>
          </a:p>
          <a:p>
            <a:pPr/>
            <a:r>
              <a:t>1 | DEV, Orders, date = Today</a:t>
            </a:r>
          </a:p>
          <a:p>
            <a:pPr/>
            <a:r>
              <a:t>2 | Expand Partner, search exact name</a:t>
            </a:r>
          </a:p>
          <a:p>
            <a:pPr/>
            <a:r>
              <a:t>3 | Count matching rows</a:t>
            </a:r>
          </a:p>
          <a:p>
            <a:pPr/>
            <a:r>
              <a:t>Pass: Exactly 1 identical label</a:t>
            </a:r>
          </a:p>
          <a:p>
            <a:pPr/>
            <a:r>
              <a:t>Fail: 0 or 2+ identical rows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24. New Joinee: Week 1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1: DEV login, date filter, one filter, Details panel</a:t>
            </a:r>
          </a:p>
          <a:p>
            <a:pPr/>
            <a:r>
              <a:t>Day 2–3: Manual test 3 filters (small, large, range)</a:t>
            </a:r>
          </a:p>
          <a:p>
            <a:pPr/>
            <a:r>
              <a:t>Day 4–5: Run smoke suite, read DFOC Partner PROD report</a:t>
            </a:r>
          </a:p>
          <a:p>
            <a:pPr/>
            <a:r>
              <a:t>Week 2: Own a story test cycle DEV → UAT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25. Access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 / UAT credentials → [team vault / lead]</a:t>
            </a:r>
          </a:p>
          <a:p>
            <a:pPr/>
            <a:r>
              <a:t>Synergy setup → [Confluence link / lead]</a:t>
            </a:r>
          </a:p>
          <a:p>
            <a:pPr/>
            <a:r>
              <a:t>Jira project → [project key]</a:t>
            </a:r>
          </a:p>
          <a:p>
            <a:pPr/>
            <a:r>
              <a:t>TestRail → Project 223</a:t>
            </a:r>
          </a:p>
          <a:p>
            <a:pPr/>
            <a:r>
              <a:t>Figma → Fulfillment 2025</a:t>
            </a:r>
          </a:p>
          <a:p>
            <a:pPr/>
            <a:r>
              <a:t>Automation repo → [Git path / URL]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26.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  <a:p>
            <a:pPr/>
            <a:r>
              <a:t>Day-1 checklist &amp; slide deck → shared after session</a:t>
            </a:r>
          </a:p>
          <a:p>
            <a:pPr/>
            <a:r>
              <a:t>Next session: [optional deep-dive topic — DFOC, Synergy, or story walkthrough]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27. Appendix: Order Status Filter Examples (Reference)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*(Optional — hide if time short)*</a:t>
            </a:r>
          </a:p>
          <a:p>
            <a:pPr/>
            <a:r>
              <a:t>Sample values used in automation:</a:t>
            </a:r>
          </a:p>
          <a:p>
            <a:pPr/>
            <a:r>
              <a:t>Done: Delivered</a:t>
            </a:r>
          </a:p>
          <a:p>
            <a:pPr/>
            <a:r>
              <a:t>Done: Failed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28. Appendix: PROD Partner Duplicate Sign-Off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*(Optional — for experienced audience)*</a:t>
            </a:r>
          </a:p>
          <a:p>
            <a:pPr/>
            <a:r>
              <a:t>Raw: 2,437 | Unique: 2,418 | UI badge: 2,425</a:t>
            </a:r>
          </a:p>
          <a:p>
            <a:pPr/>
            <a:r>
              <a:t>5 exact duplicate groups</a:t>
            </a:r>
          </a:p>
          <a:p>
            <a:pPr/>
            <a:r>
              <a:t>22 case-insensitive pairs</a:t>
            </a:r>
          </a:p>
          <a:p>
            <a:pPr/>
            <a:r>
              <a:t>Recommendation: NO sign-off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